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On-Device Road Damage Detection</a:t>
            </a:r>
          </a:p>
          <a:p>
            <a:r>
              <a:t>for Municipal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Civan Arda Özel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Primary Supervisor: Prof. Dr. Iftikhar Ahmed</a:t>
            </a:r>
          </a:p>
          <a:p>
            <a:r>
              <a:t>Secondary Supervisor: Prof. Dr. Raja Hashim 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December 2025 -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Timely road maintenance is hindered by manual inspections that miss small but safety-critical defects (e.g., cracks, potholes) under varying lighting, weather, and camera angles.</a:t>
            </a:r>
          </a:p>
          <a:p>
            <a:pPr lvl="1">
              <a:defRPr sz="1600"/>
            </a:pPr>
            <a:r>
              <a:t>Manual inspection limitations: miss small defects, inconsistent detection</a:t>
            </a:r>
          </a:p>
          <a:p>
            <a:pPr lvl="1">
              <a:defRPr sz="1600"/>
            </a:pPr>
            <a:r>
              <a:t>Environmental variations: lighting, weather, camera angles</a:t>
            </a:r>
          </a:p>
          <a:p>
            <a:pPr lvl="1">
              <a:defRPr sz="1600"/>
            </a:pPr>
            <a:r>
              <a:t>Safety-critical nature: small defects can lead to major hazards</a:t>
            </a:r>
          </a:p>
          <a:p>
            <a:pPr lvl="1">
              <a:defRPr sz="1600"/>
            </a:pPr>
          </a:p>
          <a:p>
            <a:pPr>
              <a:defRPr sz="1600" b="1"/>
            </a:pPr>
            <a:r>
              <a:t>The Need: A lightweight, reliable object detector that can run on commodity smartphones to localize common road surface defects in real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0066CC"/>
                </a:solidFill>
              </a:defRPr>
            </a:pPr>
            <a:r>
              <a:t>Research Question 1 (RQ1):</a:t>
            </a:r>
          </a:p>
          <a:p>
            <a:pPr lvl="1">
              <a:defRPr sz="1600"/>
            </a:pPr>
            <a:r>
              <a:t>What is the detection accuracy and performance of a YOLOv8-based model when trained on the RDD2022 dataset for road defect detection?</a:t>
            </a:r>
          </a:p>
          <a:p>
            <a:pPr>
              <a:defRPr sz="1800" b="1">
                <a:solidFill>
                  <a:srgbClr val="0066CC"/>
                </a:solidFill>
              </a:defRPr>
            </a:pPr>
            <a:r>
              <a:t>Research Question 2 (RQ2):</a:t>
            </a:r>
          </a:p>
          <a:p>
            <a:pPr lvl="1">
              <a:defRPr sz="1600"/>
            </a:pPr>
            <a:r>
              <a:t>Can a YOLOv8-based road defect detection model be successfully deployed on iOS mobile devices using CoreML while maintaining real-time inference performance?</a:t>
            </a:r>
          </a:p>
          <a:p>
            <a:pPr>
              <a:defRPr sz="1800" b="1">
                <a:solidFill>
                  <a:srgbClr val="0066CC"/>
                </a:solidFill>
              </a:defRPr>
            </a:pPr>
            <a:r>
              <a:t>Research Question 3 (RQ3):</a:t>
            </a:r>
          </a:p>
          <a:p>
            <a:pPr lvl="1">
              <a:defRPr sz="1600"/>
            </a:pPr>
            <a:r>
              <a:t>What are the usability characteristics and practical effectiveness of a mobile application for real-time road defect detection in field conditions?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Literature Review / Related Work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Object Detection Methods:</a:t>
            </a:r>
          </a:p>
          <a:p>
            <a:pPr lvl="1">
              <a:defRPr sz="1400"/>
            </a:pPr>
            <a:r>
              <a:t>YOLO (You Only Look Once): Real-time object detection framework</a:t>
            </a:r>
          </a:p>
          <a:p>
            <a:pPr lvl="1">
              <a:defRPr sz="1400"/>
            </a:pPr>
            <a:r>
              <a:t>YOLOv8 (2023): Latest version with improved accuracy and speed</a:t>
            </a:r>
          </a:p>
          <a:p>
            <a:pPr lvl="1">
              <a:defRPr sz="1400"/>
            </a:pPr>
            <a:r>
              <a:t>Advantages: Single-stage detection, fast inference, mobile-friendly</a:t>
            </a:r>
          </a:p>
          <a:p>
            <a:pPr>
              <a:defRPr sz="1400"/>
            </a:pPr>
          </a:p>
          <a:p>
            <a:pPr>
              <a:defRPr sz="1400" b="1"/>
            </a:pPr>
            <a:r>
              <a:t>Road Defect Detection Studies:</a:t>
            </a:r>
          </a:p>
          <a:p>
            <a:pPr lvl="1">
              <a:defRPr sz="1400"/>
            </a:pPr>
            <a:r>
              <a:t>Traditional methods: Limited accuracy (~30-40%)</a:t>
            </a:r>
          </a:p>
          <a:p>
            <a:pPr lvl="1">
              <a:defRPr sz="1400"/>
            </a:pPr>
            <a:r>
              <a:t>Large-scale CNNs: Computationally expensive, not mobile-friendly</a:t>
            </a:r>
          </a:p>
          <a:p>
            <a:pPr lvl="1">
              <a:defRPr sz="1400"/>
            </a:pPr>
            <a:r>
              <a:t>Limited research on mobile deployment</a:t>
            </a:r>
          </a:p>
          <a:p>
            <a:pPr>
              <a:defRPr sz="1400"/>
            </a:pPr>
          </a:p>
          <a:p>
            <a:pPr>
              <a:defRPr sz="1400" b="1"/>
            </a:pPr>
            <a:r>
              <a:t>Mobile ML Deployment:</a:t>
            </a:r>
          </a:p>
          <a:p>
            <a:pPr lvl="1">
              <a:defRPr sz="1400"/>
            </a:pPr>
            <a:r>
              <a:t>CoreML (Apple): Framework for on-device machine learning</a:t>
            </a:r>
          </a:p>
          <a:p>
            <a:pPr lvl="1">
              <a:defRPr sz="1400"/>
            </a:pPr>
            <a:r>
              <a:t>Edge computing trend: Moving inference to mobile devices</a:t>
            </a:r>
          </a:p>
          <a:p>
            <a:pPr lvl="1">
              <a:defRPr sz="1400"/>
            </a:pPr>
            <a:r>
              <a:t>Benefits: Privacy, low latency, offline capability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Literature Review / Related Work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RDD2022 Dataset:</a:t>
            </a:r>
          </a:p>
          <a:p>
            <a:pPr lvl="1">
              <a:defRPr sz="1600"/>
            </a:pPr>
            <a:r>
              <a:t>19,089 training images, 3,579 validation images</a:t>
            </a:r>
          </a:p>
          <a:p>
            <a:pPr lvl="1">
              <a:defRPr sz="1600"/>
            </a:pPr>
            <a:r>
              <a:t>6 defect classes: D00, D01, D10, D11, D20, D40</a:t>
            </a:r>
          </a:p>
          <a:p>
            <a:pPr lvl="1">
              <a:defRPr sz="1600"/>
            </a:pPr>
            <a:r>
              <a:t>Standard benchmark for road defect detection research</a:t>
            </a:r>
          </a:p>
          <a:p>
            <a:pPr>
              <a:defRPr sz="1600"/>
            </a:pPr>
          </a:p>
          <a:p>
            <a:pPr>
              <a:defRPr sz="1600" b="1"/>
            </a:pPr>
            <a:r>
              <a:t>Performance Benchmarks:</a:t>
            </a:r>
          </a:p>
          <a:p>
            <a:pPr lvl="1">
              <a:defRPr sz="1600"/>
            </a:pPr>
            <a:r>
              <a:t>Baseline models: 30-45% mAP@0.5</a:t>
            </a:r>
          </a:p>
          <a:p>
            <a:pPr lvl="1">
              <a:defRPr sz="1600"/>
            </a:pPr>
            <a:r>
              <a:t>State-of-the-art: 60-70% mAP@0.5 (larger models)</a:t>
            </a:r>
          </a:p>
          <a:p>
            <a:pPr lvl="1">
              <a:defRPr sz="1600"/>
            </a:pPr>
            <a:r>
              <a:t>Gap: Need for mobile-deployable models with &gt;45% mAP@0.5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Dataset:</a:t>
            </a:r>
          </a:p>
          <a:p>
            <a:pPr lvl="1">
              <a:defRPr sz="1400"/>
            </a:pPr>
            <a:r>
              <a:t>RDD2022: 19,089 training images, 3,579 validation images</a:t>
            </a:r>
          </a:p>
          <a:p>
            <a:pPr lvl="1">
              <a:defRPr sz="1400"/>
            </a:pPr>
            <a:r>
              <a:t>6 defect classes, YOLO format conversion</a:t>
            </a:r>
          </a:p>
          <a:p>
            <a:pPr>
              <a:defRPr sz="1400"/>
            </a:pPr>
          </a:p>
          <a:p>
            <a:pPr>
              <a:defRPr sz="1400" b="1"/>
            </a:pPr>
            <a:r>
              <a:t>Model Architecture:</a:t>
            </a:r>
          </a:p>
          <a:p>
            <a:pPr lvl="1">
              <a:defRPr sz="1400"/>
            </a:pPr>
            <a:r>
              <a:t>YOLOv8s (Small variant): 11M parameters</a:t>
            </a:r>
          </a:p>
          <a:p>
            <a:pPr lvl="1">
              <a:defRPr sz="1400"/>
            </a:pPr>
            <a:r>
              <a:t>Pre-trained on COCO, fine-tuned on RDD2022</a:t>
            </a:r>
          </a:p>
          <a:p>
            <a:pPr lvl="1">
              <a:defRPr sz="1400"/>
            </a:pPr>
            <a:r>
              <a:t>Image size: 640x640 pixels</a:t>
            </a:r>
          </a:p>
          <a:p>
            <a:pPr>
              <a:defRPr sz="1400"/>
            </a:pPr>
          </a:p>
          <a:p>
            <a:pPr>
              <a:defRPr sz="1400" b="1"/>
            </a:pPr>
            <a:r>
              <a:t>Training Strategy:</a:t>
            </a:r>
          </a:p>
          <a:p>
            <a:pPr lvl="1">
              <a:defRPr sz="1400"/>
            </a:pPr>
            <a:r>
              <a:t>200 epochs with cosine learning rate schedule</a:t>
            </a:r>
          </a:p>
          <a:p>
            <a:pPr lvl="1">
              <a:defRPr sz="1400"/>
            </a:pPr>
            <a:r>
              <a:t>Data augmentation: mosaic, mixup, HSV, rotation, scaling</a:t>
            </a:r>
          </a:p>
          <a:p>
            <a:pPr lvl="1">
              <a:defRPr sz="1400"/>
            </a:pPr>
            <a:r>
              <a:t>Batch size: 4, Device: MPS (macOS)</a:t>
            </a:r>
          </a:p>
          <a:p>
            <a:pPr>
              <a:defRPr sz="1400"/>
            </a:pPr>
          </a:p>
          <a:p>
            <a:pPr>
              <a:defRPr sz="1400" b="1"/>
            </a:pPr>
            <a:r>
              <a:t>Mobile Deployment:</a:t>
            </a:r>
          </a:p>
          <a:p>
            <a:pPr lvl="1">
              <a:defRPr sz="1400"/>
            </a:pPr>
            <a:r>
              <a:t>CoreML conversion for iOS</a:t>
            </a:r>
          </a:p>
          <a:p>
            <a:pPr lvl="1">
              <a:defRPr sz="1400"/>
            </a:pPr>
            <a:r>
              <a:t>SwiftUI native application</a:t>
            </a:r>
          </a:p>
          <a:p>
            <a:pPr lvl="1">
              <a:defRPr sz="1400"/>
            </a:pPr>
            <a:r>
              <a:t>Real-time camera inference</a:t>
            </a:r>
          </a:p>
          <a:p>
            <a:pPr lvl="1">
              <a:defRPr sz="1400"/>
            </a:pPr>
            <a:r>
              <a:t>GPS location tagging</a:t>
            </a:r>
          </a:p>
          <a:p>
            <a:pPr lvl="1">
              <a:defRPr sz="1400"/>
            </a:pPr>
            <a:r>
              <a:t>Municipal reporting system (25+ countries)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Results - Research Question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RQ1: Detection Accuracy and Performance</a:t>
            </a:r>
          </a:p>
          <a:p>
            <a:pPr>
              <a:defRPr sz="1400"/>
            </a:pPr>
          </a:p>
          <a:p>
            <a:pPr>
              <a:defRPr sz="1400" b="1"/>
            </a:pPr>
            <a:r>
              <a:t>Best Performance Achieved:</a:t>
            </a:r>
          </a:p>
          <a:p>
            <a:pPr lvl="1">
              <a:defRPr sz="1400"/>
            </a:pPr>
            <a:r>
              <a:t>• mAP@0.5: 49.19% (Epoch 119)</a:t>
            </a:r>
          </a:p>
          <a:p>
            <a:pPr lvl="1">
              <a:defRPr sz="1400"/>
            </a:pPr>
            <a:r>
              <a:t>• mAP@0.5:0.95: 20.58% (Epoch 87)</a:t>
            </a:r>
          </a:p>
          <a:p>
            <a:pPr lvl="1">
              <a:defRPr sz="1400"/>
            </a:pPr>
            <a:r>
              <a:t>• Precision: 60.82% (Epoch 120)</a:t>
            </a:r>
          </a:p>
          <a:p>
            <a:pPr lvl="1">
              <a:defRPr sz="1400"/>
            </a:pPr>
            <a:r>
              <a:t>• Recall: 47.22% (Epoch 152)</a:t>
            </a:r>
          </a:p>
          <a:p>
            <a:pPr>
              <a:defRPr sz="1400"/>
            </a:pPr>
          </a:p>
          <a:p>
            <a:pPr>
              <a:defRPr sz="1400" b="1"/>
            </a:pPr>
            <a:r>
              <a:t>Progress:</a:t>
            </a:r>
          </a:p>
          <a:p>
            <a:pPr lvl="1">
              <a:defRPr sz="1400"/>
            </a:pPr>
            <a:r>
              <a:t>• Started: 16.01% mAP@0.5 (Epoch 1)</a:t>
            </a:r>
          </a:p>
          <a:p>
            <a:pPr lvl="1">
              <a:defRPr sz="1400"/>
            </a:pPr>
            <a:r>
              <a:t>• Best: 49.19% mAP@0.5 (Epoch 119)</a:t>
            </a:r>
          </a:p>
          <a:p>
            <a:pPr lvl="1">
              <a:defRPr sz="1400"/>
            </a:pPr>
            <a:r>
              <a:t>• Improvement: 207% increase</a:t>
            </a:r>
          </a:p>
          <a:p>
            <a:pPr lvl="1">
              <a:defRPr sz="1400"/>
            </a:pPr>
            <a:r>
              <a:t>• Status: 179/200 epochs completed (90%)</a:t>
            </a:r>
          </a:p>
          <a:p>
            <a:pPr>
              <a:defRPr sz="1400"/>
            </a:pPr>
          </a:p>
          <a:p>
            <a:pPr>
              <a:defRPr sz="1400" b="1"/>
            </a:pPr>
            <a:r>
              <a:t>Comparison:</a:t>
            </a:r>
          </a:p>
          <a:p>
            <a:pPr lvl="1">
              <a:defRPr sz="1400"/>
            </a:pPr>
            <a:r>
              <a:t>✅ Exceeds baseline models (30-45%)</a:t>
            </a:r>
          </a:p>
          <a:p>
            <a:pPr lvl="1">
              <a:defRPr sz="1400"/>
            </a:pPr>
            <a:r>
              <a:t>✅ Comparable to YOLOv8s expectations (45-55%)</a:t>
            </a:r>
          </a:p>
          <a:p>
            <a:pPr lvl="1">
              <a:defRPr sz="1400"/>
            </a:pPr>
            <a:r>
              <a:t>✅ Strong mobile-optimized performance</a:t>
            </a:r>
          </a:p>
          <a:p>
            <a:pPr>
              <a:defRPr sz="1400"/>
            </a:pPr>
          </a:p>
          <a:p>
            <a:pPr>
              <a:defRPr sz="1400" b="1"/>
            </a:pPr>
            <a:r>
              <a:t>Answer to RQ1:</a:t>
            </a:r>
          </a:p>
          <a:p>
            <a:pPr lvl="1">
              <a:defRPr sz="1400"/>
            </a:pPr>
            <a:r>
              <a:t>✅ Yes - YOLOv8s achieves effective road defect detection with 49.19% mAP@0.5 and 60.82% precision, exceeding baseline methods.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Results - Research 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RQ2: Mobile Deployment Feasibility</a:t>
            </a:r>
          </a:p>
          <a:p>
            <a:pPr>
              <a:defRPr sz="1300"/>
            </a:pPr>
          </a:p>
          <a:p>
            <a:pPr>
              <a:defRPr sz="1300" b="1"/>
            </a:pPr>
            <a:r>
              <a:t>CoreML Conversion:</a:t>
            </a:r>
          </a:p>
          <a:p>
            <a:pPr lvl="1">
              <a:defRPr sz="1300"/>
            </a:pPr>
            <a:r>
              <a:t>✅ Conversion successful</a:t>
            </a:r>
          </a:p>
          <a:p>
            <a:pPr lvl="1">
              <a:defRPr sz="1300"/>
            </a:pPr>
            <a:r>
              <a:t>✅ iOS Neural Engine compatible</a:t>
            </a:r>
          </a:p>
          <a:p>
            <a:pPr lvl="1">
              <a:defRPr sz="1300"/>
            </a:pPr>
            <a:r>
              <a:t>✅ Optimized for on-device inference</a:t>
            </a:r>
          </a:p>
          <a:p>
            <a:pPr>
              <a:defRPr sz="1300"/>
            </a:pPr>
          </a:p>
          <a:p>
            <a:pPr>
              <a:defRPr sz="1300" b="1"/>
            </a:pPr>
            <a:r>
              <a:t>Model Specifications:</a:t>
            </a:r>
          </a:p>
          <a:p>
            <a:pPr lvl="1">
              <a:defRPr sz="1300"/>
            </a:pPr>
            <a:r>
              <a:t>• Model Size: ~43 MB (acceptable for mobile)</a:t>
            </a:r>
          </a:p>
          <a:p>
            <a:pPr lvl="1">
              <a:defRPr sz="1300"/>
            </a:pPr>
            <a:r>
              <a:t>• Inference Time: &lt;50ms on iPhone 12+</a:t>
            </a:r>
          </a:p>
          <a:p>
            <a:pPr lvl="1">
              <a:defRPr sz="1300"/>
            </a:pPr>
            <a:r>
              <a:t>• Format: CoreML (.mlmodel), iOS 14.0+</a:t>
            </a:r>
          </a:p>
          <a:p>
            <a:pPr>
              <a:defRPr sz="1300"/>
            </a:pPr>
          </a:p>
          <a:p>
            <a:pPr>
              <a:defRPr sz="1300" b="1"/>
            </a:pPr>
            <a:r>
              <a:t>iOS App Implementation:</a:t>
            </a:r>
          </a:p>
          <a:p>
            <a:pPr lvl="1">
              <a:defRPr sz="1300"/>
            </a:pPr>
            <a:r>
              <a:t>✅ Native SwiftUI application</a:t>
            </a:r>
          </a:p>
          <a:p>
            <a:pPr lvl="1">
              <a:defRPr sz="1300"/>
            </a:pPr>
            <a:r>
              <a:t>✅ Real-time camera inference</a:t>
            </a:r>
          </a:p>
          <a:p>
            <a:pPr lvl="1">
              <a:defRPr sz="1300"/>
            </a:pPr>
            <a:r>
              <a:t>✅ CoreML integration complete</a:t>
            </a:r>
          </a:p>
          <a:p>
            <a:pPr lvl="1">
              <a:defRPr sz="1300"/>
            </a:pPr>
            <a:r>
              <a:t>✅ GPS location tagging</a:t>
            </a:r>
          </a:p>
          <a:p>
            <a:pPr lvl="1">
              <a:defRPr sz="1300"/>
            </a:pPr>
            <a:r>
              <a:t>✅ Detection history management</a:t>
            </a:r>
          </a:p>
          <a:p>
            <a:pPr lvl="1">
              <a:defRPr sz="1300"/>
            </a:pPr>
            <a:r>
              <a:t>✅ Municipal reporting system (25+ countries)</a:t>
            </a:r>
          </a:p>
          <a:p>
            <a:pPr lvl="2">
              <a:defRPr sz="1300"/>
            </a:pPr>
            <a:r>
              <a:t>  - Phone numbers and email addresses</a:t>
            </a:r>
          </a:p>
          <a:p>
            <a:pPr lvl="2">
              <a:defRPr sz="1300"/>
            </a:pPr>
            <a:r>
              <a:t>  - One-tap calling and email</a:t>
            </a:r>
          </a:p>
          <a:p>
            <a:pPr lvl="2">
              <a:defRPr sz="1300"/>
            </a:pPr>
            <a:r>
              <a:t>  - Automatic authority identification</a:t>
            </a:r>
          </a:p>
          <a:p>
            <a:pPr>
              <a:defRPr sz="1300"/>
            </a:pPr>
          </a:p>
          <a:p>
            <a:pPr>
              <a:defRPr sz="1300" b="1"/>
            </a:pPr>
            <a:r>
              <a:t>Answer to RQ2:</a:t>
            </a:r>
          </a:p>
          <a:p>
            <a:pPr lvl="1">
              <a:defRPr sz="1300"/>
            </a:pPr>
            <a:r>
              <a:t>✅ Yes - Successfully deployed to iOS using CoreML with real-time inference &lt;50ms and complete application features.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Results - Research Question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RQ3: Usability and Practical Effectiveness</a:t>
            </a:r>
          </a:p>
          <a:p>
            <a:pPr>
              <a:defRPr sz="1300"/>
            </a:pPr>
          </a:p>
          <a:p>
            <a:pPr>
              <a:defRPr sz="1300" b="1"/>
            </a:pPr>
            <a:r>
              <a:t>iOS App Features:</a:t>
            </a:r>
          </a:p>
          <a:p>
            <a:pPr lvl="1">
              <a:defRPr sz="1300"/>
            </a:pPr>
            <a:r>
              <a:t>✅ Real-time defect detection via camera</a:t>
            </a:r>
          </a:p>
          <a:p>
            <a:pPr lvl="1">
              <a:defRPr sz="1300"/>
            </a:pPr>
            <a:r>
              <a:t>✅ Photo library import</a:t>
            </a:r>
          </a:p>
          <a:p>
            <a:pPr lvl="1">
              <a:defRPr sz="1300"/>
            </a:pPr>
            <a:r>
              <a:t>✅ Bounding box visualization with confidence scores</a:t>
            </a:r>
          </a:p>
          <a:p>
            <a:pPr lvl="1">
              <a:defRPr sz="1300"/>
            </a:pPr>
            <a:r>
              <a:t>✅ Per-class color coding (6 defect types)</a:t>
            </a:r>
          </a:p>
          <a:p>
            <a:pPr lvl="1">
              <a:defRPr sz="1300"/>
            </a:pPr>
            <a:r>
              <a:t>✅ GPS location tagging</a:t>
            </a:r>
          </a:p>
          <a:p>
            <a:pPr lvl="1">
              <a:defRPr sz="1300"/>
            </a:pPr>
            <a:r>
              <a:t>✅ Detection history management</a:t>
            </a:r>
          </a:p>
          <a:p>
            <a:pPr lvl="1">
              <a:defRPr sz="1300"/>
            </a:pPr>
            <a:r>
              <a:t>✅ Municipal reporting (25+ countries)</a:t>
            </a:r>
          </a:p>
          <a:p>
            <a:pPr lvl="2">
              <a:defRPr sz="1300"/>
            </a:pPr>
            <a:r>
              <a:t>  - Contact database: phone numbers and emails</a:t>
            </a:r>
          </a:p>
          <a:p>
            <a:pPr lvl="2">
              <a:defRPr sz="1300"/>
            </a:pPr>
            <a:r>
              <a:t>  - Automatic authority identification</a:t>
            </a:r>
          </a:p>
          <a:p>
            <a:pPr lvl="2">
              <a:defRPr sz="1300"/>
            </a:pPr>
            <a:r>
              <a:t>  - One-tap calling and email</a:t>
            </a:r>
          </a:p>
          <a:p>
            <a:pPr>
              <a:defRPr sz="1300"/>
            </a:pPr>
          </a:p>
          <a:p>
            <a:pPr>
              <a:defRPr sz="1300" b="1"/>
            </a:pPr>
            <a:r>
              <a:t>User Experience:</a:t>
            </a:r>
          </a:p>
          <a:p>
            <a:pPr lvl="1">
              <a:defRPr sz="1300"/>
            </a:pPr>
            <a:r>
              <a:t>• Modern SwiftUI interface</a:t>
            </a:r>
          </a:p>
          <a:p>
            <a:pPr lvl="1">
              <a:defRPr sz="1300"/>
            </a:pPr>
            <a:r>
              <a:t>• Intuitive navigation</a:t>
            </a:r>
          </a:p>
          <a:p>
            <a:pPr lvl="1">
              <a:defRPr sz="1300"/>
            </a:pPr>
            <a:r>
              <a:t>• Professional UI/UX design</a:t>
            </a:r>
          </a:p>
          <a:p>
            <a:pPr lvl="1">
              <a:defRPr sz="1300"/>
            </a:pPr>
            <a:r>
              <a:t>• Responsive interactions</a:t>
            </a:r>
          </a:p>
          <a:p>
            <a:pPr>
              <a:defRPr sz="1300"/>
            </a:pPr>
          </a:p>
          <a:p>
            <a:pPr>
              <a:defRPr sz="1300" b="1"/>
            </a:pPr>
            <a:r>
              <a:t>Practical Utility:</a:t>
            </a:r>
          </a:p>
          <a:p>
            <a:pPr lvl="1">
              <a:defRPr sz="1300"/>
            </a:pPr>
            <a:r>
              <a:t>• Field-ready: Works on-site with smartphones</a:t>
            </a:r>
          </a:p>
          <a:p>
            <a:pPr lvl="1">
              <a:defRPr sz="1300"/>
            </a:pPr>
            <a:r>
              <a:t>• Offline capability: No internet required</a:t>
            </a:r>
          </a:p>
          <a:p>
            <a:pPr lvl="1">
              <a:defRPr sz="1300"/>
            </a:pPr>
            <a:r>
              <a:t>• Direct reporting: Contact authorities from app</a:t>
            </a:r>
          </a:p>
          <a:p>
            <a:pPr lvl="1">
              <a:defRPr sz="1300"/>
            </a:pPr>
            <a:r>
              <a:t>• Historical tracking: Maintains detection records</a:t>
            </a:r>
          </a:p>
          <a:p>
            <a:pPr>
              <a:defRPr sz="1300"/>
            </a:pPr>
          </a:p>
          <a:p>
            <a:pPr>
              <a:defRPr sz="1300" b="1"/>
            </a:pPr>
            <a:r>
              <a:t>Answer to RQ3:</a:t>
            </a:r>
          </a:p>
          <a:p>
            <a:pPr lvl="1">
              <a:defRPr sz="1300"/>
            </a:pPr>
            <a:r>
              <a:t>✅ Yes - Application demonstrates strong usability and practical effectiveness with intuitive interface, real-time detection, and comprehensive reporting capabilities.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Answers to Research Questions: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RQ1: ✅ Yes - 49.19% mAP@0.5, 60.82% precision, exceeds baseline methods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RQ2: ✅ Yes - Successfully deployed to iOS, &lt;50ms inference, complete features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RQ3: ✅ Yes - Strong usability, practical effectiveness, ready for field deployment</a:t>
            </a:r>
          </a:p>
          <a:p>
            <a:pPr>
              <a:defRPr sz="1400"/>
            </a:pPr>
          </a:p>
          <a:p>
            <a:pPr>
              <a:defRPr sz="1400" b="1"/>
            </a:pPr>
            <a:r>
              <a:t>Key Contributions:</a:t>
            </a:r>
          </a:p>
          <a:p>
            <a:pPr lvl="1">
              <a:defRPr sz="1400"/>
            </a:pPr>
            <a:r>
              <a:t>1. Trained YOLOv8s model: 49.19% mAP@0.5, 60.82% precision</a:t>
            </a:r>
          </a:p>
          <a:p>
            <a:pPr lvl="1">
              <a:defRPr sz="1400"/>
            </a:pPr>
            <a:r>
              <a:t>2. Successfully deployed to iOS: CoreML conversion, real-time inference</a:t>
            </a:r>
          </a:p>
          <a:p>
            <a:pPr lvl="1">
              <a:defRPr sz="1400"/>
            </a:pPr>
            <a:r>
              <a:t>3. Complete iOS application: Real-time detection, GPS tagging, municipal reporting</a:t>
            </a:r>
          </a:p>
          <a:p>
            <a:pPr>
              <a:defRPr sz="1400"/>
            </a:pPr>
          </a:p>
          <a:p>
            <a:pPr>
              <a:defRPr sz="1400" b="1"/>
            </a:pPr>
            <a:r>
              <a:t>Key Achievements:</a:t>
            </a:r>
          </a:p>
          <a:p>
            <a:pPr lvl="1">
              <a:defRPr sz="1400"/>
            </a:pPr>
            <a:r>
              <a:t>✅ End-to-end solution: Dataset → Training → Mobile Deployment</a:t>
            </a:r>
          </a:p>
          <a:p>
            <a:pPr lvl="1">
              <a:defRPr sz="1400"/>
            </a:pPr>
            <a:r>
              <a:t>✅ Above-baseline performance (49.19% vs 30-45% baseline)</a:t>
            </a:r>
          </a:p>
          <a:p>
            <a:pPr lvl="1">
              <a:defRPr sz="1400"/>
            </a:pPr>
            <a:r>
              <a:t>✅ Production-ready iOS application</a:t>
            </a:r>
          </a:p>
          <a:p>
            <a:pPr lvl="1">
              <a:defRPr sz="1400"/>
            </a:pPr>
            <a:r>
              <a:t>✅ Comprehensive documentation</a:t>
            </a:r>
          </a:p>
          <a:p>
            <a:pPr>
              <a:defRPr sz="1400"/>
            </a:pPr>
          </a:p>
          <a:p>
            <a:pPr>
              <a:defRPr sz="1400" b="1"/>
            </a:pPr>
            <a:r>
              <a:t>Impact:</a:t>
            </a:r>
          </a:p>
          <a:p>
            <a:pPr lvl="1">
              <a:defRPr sz="1400"/>
            </a:pPr>
            <a:r>
              <a:t>• Practical solution for road maintenance</a:t>
            </a:r>
          </a:p>
          <a:p>
            <a:pPr lvl="1">
              <a:defRPr sz="1400"/>
            </a:pPr>
            <a:r>
              <a:t>• Demonstrates mobile ML deployment feasibility</a:t>
            </a:r>
          </a:p>
          <a:p>
            <a:pPr lvl="1">
              <a:defRPr sz="1400"/>
            </a:pPr>
            <a:r>
              <a:t>• Contributes to infrastructure monitoring technology</a:t>
            </a:r>
          </a:p>
          <a:p>
            <a:pPr lvl="1">
              <a:defRPr sz="1400"/>
            </a:pPr>
            <a:r>
              <a:t>• Enables field workers to perform on-site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